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3" autoAdjust="0"/>
    <p:restoredTop sz="94660"/>
  </p:normalViewPr>
  <p:slideViewPr>
    <p:cSldViewPr snapToGrid="0">
      <p:cViewPr varScale="1">
        <p:scale>
          <a:sx n="43" d="100"/>
          <a:sy n="43" d="100"/>
        </p:scale>
        <p:origin x="76" y="1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EA272-9675-CDCD-F8D2-37F228707E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EC5CA3-AAE5-2556-7603-FF7C750CFF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0A8A20-F680-1C9D-6C54-FB5B92B81D5B}"/>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5" name="Footer Placeholder 4">
            <a:extLst>
              <a:ext uri="{FF2B5EF4-FFF2-40B4-BE49-F238E27FC236}">
                <a16:creationId xmlns:a16="http://schemas.microsoft.com/office/drawing/2014/main" id="{C142896F-4EDE-05B0-7FEB-6A0C3AF600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D4A786-9B2B-4D25-A541-768A75B450F1}"/>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2435893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00E31-49F1-D934-3260-93244996FD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A01104-8C97-471C-E5BC-5F5E7FB405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9502FE-381D-F005-1070-2DE90F7E39E8}"/>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5" name="Footer Placeholder 4">
            <a:extLst>
              <a:ext uri="{FF2B5EF4-FFF2-40B4-BE49-F238E27FC236}">
                <a16:creationId xmlns:a16="http://schemas.microsoft.com/office/drawing/2014/main" id="{5CC2285D-1DF9-3040-A762-B7A8B6E771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92EFE7-05D3-6B4A-2A6D-77684A3E00E3}"/>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3727660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C9C9A-C223-BCDC-0700-2907B95A87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45A728-4347-A65F-6B21-A4ACC6250C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21F521-B06A-A226-E32D-2E7D7C93DF89}"/>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5" name="Footer Placeholder 4">
            <a:extLst>
              <a:ext uri="{FF2B5EF4-FFF2-40B4-BE49-F238E27FC236}">
                <a16:creationId xmlns:a16="http://schemas.microsoft.com/office/drawing/2014/main" id="{173AE50D-67E4-C773-D40D-33BE96C7D0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FDBFDB-C791-00BF-96A6-92DC5C2E78A8}"/>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1862006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DE8A4-D43E-A990-5CA3-5128F7855B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0FA8DF-DCCE-B9D1-0ED8-F60D6893B7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62A63D-78BC-2A01-2FEC-5CC0248E80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7A27EC-D270-122D-927D-22CDAD887C1C}"/>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6" name="Footer Placeholder 5">
            <a:extLst>
              <a:ext uri="{FF2B5EF4-FFF2-40B4-BE49-F238E27FC236}">
                <a16:creationId xmlns:a16="http://schemas.microsoft.com/office/drawing/2014/main" id="{0A61641E-8421-6BB3-0322-B6EE351044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AF596-9C92-6684-51D0-B281B079FB3D}"/>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853965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53445-83FB-EBDD-84EE-373C8A7AA1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897F56-D10D-112D-E19E-C686855C0F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580A9B-6305-3244-1F1E-9BF58C6275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1EACBC-8940-22D2-9FCC-41B236FE96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BB0C5D-DC76-C60F-A099-AD44DBA442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8947AD-CB55-9D56-CB97-3E2CD0C757F3}"/>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8" name="Footer Placeholder 7">
            <a:extLst>
              <a:ext uri="{FF2B5EF4-FFF2-40B4-BE49-F238E27FC236}">
                <a16:creationId xmlns:a16="http://schemas.microsoft.com/office/drawing/2014/main" id="{1D1CF7B6-3060-0B65-D6CE-0B371ECCF9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BA5F39-D6F9-B91B-F82D-A454C684D6C1}"/>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2268672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8FA11-0369-0AC1-5934-2BC9C9D8BA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DDF5AE-7CAA-629C-EAEA-A44DC4DE0391}"/>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4" name="Footer Placeholder 3">
            <a:extLst>
              <a:ext uri="{FF2B5EF4-FFF2-40B4-BE49-F238E27FC236}">
                <a16:creationId xmlns:a16="http://schemas.microsoft.com/office/drawing/2014/main" id="{05FD835C-80C9-E7C3-1C42-DE1B4E19B2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E54DFC-BCD6-1077-11FD-A6450565E170}"/>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2158435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1BC479-F89C-0BCE-6574-B243F3EC6827}"/>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3" name="Footer Placeholder 2">
            <a:extLst>
              <a:ext uri="{FF2B5EF4-FFF2-40B4-BE49-F238E27FC236}">
                <a16:creationId xmlns:a16="http://schemas.microsoft.com/office/drawing/2014/main" id="{A02090BC-1880-46EA-5964-1F2198A2E0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48F32C-E13D-622A-3ABA-93F8EEC0325E}"/>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3099739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38D73-F295-2688-07F8-E16C049870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1F8C8A-4618-8551-AECE-32E8352363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91675C-6D6E-1DD1-21F6-1E44F1D548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3EC756-7CFB-0344-578E-335805BCD17C}"/>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6" name="Footer Placeholder 5">
            <a:extLst>
              <a:ext uri="{FF2B5EF4-FFF2-40B4-BE49-F238E27FC236}">
                <a16:creationId xmlns:a16="http://schemas.microsoft.com/office/drawing/2014/main" id="{829875C0-F9C7-8132-B392-6BAD415850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DE89D7-4465-D301-5937-6F5275DA9B53}"/>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2636668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A8D2A-F58D-73B4-8549-7CA7DABE06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357D6E-64B2-20C0-89B5-E015778C44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4EDD0D-D438-137A-07ED-34DC280650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8F7289-ABE8-92D9-E2E8-3EC60643DC3C}"/>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6" name="Footer Placeholder 5">
            <a:extLst>
              <a:ext uri="{FF2B5EF4-FFF2-40B4-BE49-F238E27FC236}">
                <a16:creationId xmlns:a16="http://schemas.microsoft.com/office/drawing/2014/main" id="{DA277BF2-0DEB-50B1-9BCC-E3F9C5FC8C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103817-A47C-7027-EEDF-2BC238C13549}"/>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633348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8CB77-CA04-13F5-41EC-F9D93EF8B3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1D2D9F-C90C-93DF-1E7C-4A8D01ABA2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04CB7A-230A-FBE1-1554-A2A90ADAD074}"/>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5" name="Footer Placeholder 4">
            <a:extLst>
              <a:ext uri="{FF2B5EF4-FFF2-40B4-BE49-F238E27FC236}">
                <a16:creationId xmlns:a16="http://schemas.microsoft.com/office/drawing/2014/main" id="{C1B70347-C290-2705-9F52-A136E7378D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F9CBE1-5B38-7C1E-D71A-488BD7D1CB8D}"/>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2535912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2BFE56-A343-FC79-8784-77346D6109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6D1FA4-2E7D-3E5B-16E4-8C7CB81772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4946FC-79DA-103E-E8B3-E385A69B76D3}"/>
              </a:ext>
            </a:extLst>
          </p:cNvPr>
          <p:cNvSpPr>
            <a:spLocks noGrp="1"/>
          </p:cNvSpPr>
          <p:nvPr>
            <p:ph type="dt" sz="half" idx="10"/>
          </p:nvPr>
        </p:nvSpPr>
        <p:spPr/>
        <p:txBody>
          <a:bodyPr/>
          <a:lstStyle/>
          <a:p>
            <a:fld id="{EDC3845D-3D8D-4DC2-9D39-D19CD4837302}" type="datetimeFigureOut">
              <a:rPr lang="en-US" smtClean="0"/>
              <a:t>1/4/2026</a:t>
            </a:fld>
            <a:endParaRPr lang="en-US"/>
          </a:p>
        </p:txBody>
      </p:sp>
      <p:sp>
        <p:nvSpPr>
          <p:cNvPr id="5" name="Footer Placeholder 4">
            <a:extLst>
              <a:ext uri="{FF2B5EF4-FFF2-40B4-BE49-F238E27FC236}">
                <a16:creationId xmlns:a16="http://schemas.microsoft.com/office/drawing/2014/main" id="{79F8D39D-0019-50CB-2CFA-6371AD6AD7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6073F-9FC8-0014-0AE9-127F94E1B635}"/>
              </a:ext>
            </a:extLst>
          </p:cNvPr>
          <p:cNvSpPr>
            <a:spLocks noGrp="1"/>
          </p:cNvSpPr>
          <p:nvPr>
            <p:ph type="sldNum" sz="quarter" idx="12"/>
          </p:nvPr>
        </p:nvSpPr>
        <p:spPr/>
        <p:txBody>
          <a:bodyPr/>
          <a:lstStyle/>
          <a:p>
            <a:fld id="{8CE6BDFB-C34D-4D4C-BCE3-49F17D7A9A10}" type="slidenum">
              <a:rPr lang="en-US" smtClean="0"/>
              <a:t>‹#›</a:t>
            </a:fld>
            <a:endParaRPr lang="en-US"/>
          </a:p>
        </p:txBody>
      </p:sp>
    </p:spTree>
    <p:extLst>
      <p:ext uri="{BB962C8B-B14F-4D97-AF65-F5344CB8AC3E}">
        <p14:creationId xmlns:p14="http://schemas.microsoft.com/office/powerpoint/2010/main" val="1951429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C47283-6432-7146-AB85-03B83C9A57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D990DE-9862-9EBA-100C-A8633F5D16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C82032-114B-F21F-9581-C127108877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C3845D-3D8D-4DC2-9D39-D19CD4837302}" type="datetimeFigureOut">
              <a:rPr lang="en-US" smtClean="0"/>
              <a:t>1/4/2026</a:t>
            </a:fld>
            <a:endParaRPr lang="en-US"/>
          </a:p>
        </p:txBody>
      </p:sp>
      <p:sp>
        <p:nvSpPr>
          <p:cNvPr id="5" name="Footer Placeholder 4">
            <a:extLst>
              <a:ext uri="{FF2B5EF4-FFF2-40B4-BE49-F238E27FC236}">
                <a16:creationId xmlns:a16="http://schemas.microsoft.com/office/drawing/2014/main" id="{F2BF8AE9-F1D2-9F2F-C817-37C98D3977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2875E5D-5692-06EA-C02D-0875770136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E6BDFB-C34D-4D4C-BCE3-49F17D7A9A10}" type="slidenum">
              <a:rPr lang="en-US" smtClean="0"/>
              <a:t>‹#›</a:t>
            </a:fld>
            <a:endParaRPr lang="en-US"/>
          </a:p>
        </p:txBody>
      </p:sp>
    </p:spTree>
    <p:extLst>
      <p:ext uri="{BB962C8B-B14F-4D97-AF65-F5344CB8AC3E}">
        <p14:creationId xmlns:p14="http://schemas.microsoft.com/office/powerpoint/2010/main" val="3243449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0212-3AD8-060E-FD92-23E1EB70C946}"/>
              </a:ext>
            </a:extLst>
          </p:cNvPr>
          <p:cNvSpPr>
            <a:spLocks noGrp="1"/>
          </p:cNvSpPr>
          <p:nvPr>
            <p:ph type="ctrTitle"/>
          </p:nvPr>
        </p:nvSpPr>
        <p:spPr/>
        <p:txBody>
          <a:bodyPr/>
          <a:lstStyle/>
          <a:p>
            <a:r>
              <a:rPr lang="en-US" b="1" dirty="0"/>
              <a:t>Keyword Ranking Analysis</a:t>
            </a:r>
          </a:p>
        </p:txBody>
      </p:sp>
      <p:sp>
        <p:nvSpPr>
          <p:cNvPr id="3" name="Subtitle 2">
            <a:extLst>
              <a:ext uri="{FF2B5EF4-FFF2-40B4-BE49-F238E27FC236}">
                <a16:creationId xmlns:a16="http://schemas.microsoft.com/office/drawing/2014/main" id="{6F2D3E77-9B1C-B691-B389-BE491E9A91CA}"/>
              </a:ext>
            </a:extLst>
          </p:cNvPr>
          <p:cNvSpPr>
            <a:spLocks noGrp="1"/>
          </p:cNvSpPr>
          <p:nvPr>
            <p:ph type="subTitle" idx="1"/>
          </p:nvPr>
        </p:nvSpPr>
        <p:spPr/>
        <p:txBody>
          <a:bodyPr anchor="b"/>
          <a:lstStyle/>
          <a:p>
            <a:pPr algn="r"/>
            <a:r>
              <a:rPr lang="en-US" dirty="0"/>
              <a:t>Submitted by: Naman Kapoor</a:t>
            </a:r>
          </a:p>
        </p:txBody>
      </p:sp>
    </p:spTree>
    <p:extLst>
      <p:ext uri="{BB962C8B-B14F-4D97-AF65-F5344CB8AC3E}">
        <p14:creationId xmlns:p14="http://schemas.microsoft.com/office/powerpoint/2010/main" val="1223546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CB43-2C16-95CD-ED63-B16EE398B0FC}"/>
              </a:ext>
            </a:extLst>
          </p:cNvPr>
          <p:cNvSpPr>
            <a:spLocks noGrp="1"/>
          </p:cNvSpPr>
          <p:nvPr>
            <p:ph type="title"/>
          </p:nvPr>
        </p:nvSpPr>
        <p:spPr/>
        <p:txBody>
          <a:bodyPr/>
          <a:lstStyle/>
          <a:p>
            <a:r>
              <a:rPr lang="en-US" b="1" dirty="0"/>
              <a:t>Problem Statement</a:t>
            </a:r>
          </a:p>
        </p:txBody>
      </p:sp>
      <p:sp>
        <p:nvSpPr>
          <p:cNvPr id="3" name="Content Placeholder 2">
            <a:extLst>
              <a:ext uri="{FF2B5EF4-FFF2-40B4-BE49-F238E27FC236}">
                <a16:creationId xmlns:a16="http://schemas.microsoft.com/office/drawing/2014/main" id="{CE5D6172-A8B4-860C-9478-495D44FFBB64}"/>
              </a:ext>
            </a:extLst>
          </p:cNvPr>
          <p:cNvSpPr>
            <a:spLocks noGrp="1"/>
          </p:cNvSpPr>
          <p:nvPr>
            <p:ph idx="1"/>
          </p:nvPr>
        </p:nvSpPr>
        <p:spPr/>
        <p:txBody>
          <a:bodyPr/>
          <a:lstStyle/>
          <a:p>
            <a:pPr marL="0" indent="0">
              <a:buNone/>
            </a:pPr>
            <a:r>
              <a:rPr lang="en-US" dirty="0"/>
              <a:t>SEO teams need to regularly track keyword rankings to measure website visibility and search performance, but manual checking on Google is time-consuming, inconsistent, and not scalable due to personalization, location bias, and device differences. Tracking both organic search results and local (Google Places) visibility further increases complexity. The lack of automation leads to delayed SEO insights, unreliable performance measurement, and heavy dependency on manual effort, making it difficult for businesses to take timely, data-driven decisions.</a:t>
            </a:r>
          </a:p>
        </p:txBody>
      </p:sp>
    </p:spTree>
    <p:extLst>
      <p:ext uri="{BB962C8B-B14F-4D97-AF65-F5344CB8AC3E}">
        <p14:creationId xmlns:p14="http://schemas.microsoft.com/office/powerpoint/2010/main" val="1948796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8F3C7-CE4E-5699-B8E1-671AD37A7170}"/>
              </a:ext>
            </a:extLst>
          </p:cNvPr>
          <p:cNvSpPr>
            <a:spLocks noGrp="1"/>
          </p:cNvSpPr>
          <p:nvPr>
            <p:ph type="title"/>
          </p:nvPr>
        </p:nvSpPr>
        <p:spPr/>
        <p:txBody>
          <a:bodyPr/>
          <a:lstStyle/>
          <a:p>
            <a:r>
              <a:rPr lang="en-US" b="1" dirty="0"/>
              <a:t>Proposed Solutions</a:t>
            </a:r>
          </a:p>
        </p:txBody>
      </p:sp>
      <p:sp>
        <p:nvSpPr>
          <p:cNvPr id="3" name="Content Placeholder 2">
            <a:extLst>
              <a:ext uri="{FF2B5EF4-FFF2-40B4-BE49-F238E27FC236}">
                <a16:creationId xmlns:a16="http://schemas.microsoft.com/office/drawing/2014/main" id="{0B73B412-D23F-5570-292E-3B4D73EA3C56}"/>
              </a:ext>
            </a:extLst>
          </p:cNvPr>
          <p:cNvSpPr>
            <a:spLocks noGrp="1"/>
          </p:cNvSpPr>
          <p:nvPr>
            <p:ph idx="1"/>
          </p:nvPr>
        </p:nvSpPr>
        <p:spPr/>
        <p:txBody>
          <a:bodyPr/>
          <a:lstStyle/>
          <a:p>
            <a:r>
              <a:rPr lang="en-US" dirty="0"/>
              <a:t>Built an automated keyword ranking analysis system using Python.</a:t>
            </a:r>
          </a:p>
          <a:p>
            <a:r>
              <a:rPr lang="en-US" dirty="0"/>
              <a:t>Input provided via Excel file containing: Keywords and Target Url</a:t>
            </a:r>
          </a:p>
          <a:p>
            <a:r>
              <a:rPr lang="en-US" dirty="0"/>
              <a:t>The system:</a:t>
            </a:r>
          </a:p>
          <a:p>
            <a:pPr marL="514350" indent="-514350">
              <a:buFont typeface="+mj-lt"/>
              <a:buAutoNum type="arabicPeriod"/>
            </a:pPr>
            <a:r>
              <a:rPr lang="en-US" dirty="0"/>
              <a:t>Fetches Google search results using an API</a:t>
            </a:r>
          </a:p>
          <a:p>
            <a:pPr marL="514350" indent="-514350">
              <a:buFont typeface="+mj-lt"/>
              <a:buAutoNum type="arabicPeriod"/>
            </a:pPr>
            <a:r>
              <a:rPr lang="en-US" dirty="0"/>
              <a:t>Identifies organic ranking position</a:t>
            </a:r>
          </a:p>
          <a:p>
            <a:pPr marL="514350" indent="-514350">
              <a:buFont typeface="+mj-lt"/>
              <a:buAutoNum type="arabicPeriod"/>
            </a:pPr>
            <a:r>
              <a:rPr lang="en-US" dirty="0"/>
              <a:t>Attempts to detect Google Places visibilities</a:t>
            </a:r>
          </a:p>
          <a:p>
            <a:pPr marL="514350" indent="-514350">
              <a:buFont typeface="+mj-lt"/>
              <a:buAutoNum type="arabicPeriod"/>
            </a:pPr>
            <a:r>
              <a:rPr lang="en-US" dirty="0"/>
              <a:t>Generates a structured Excel report</a:t>
            </a:r>
          </a:p>
          <a:p>
            <a:pPr marL="514350" indent="-514350">
              <a:buFont typeface="+mj-lt"/>
              <a:buAutoNum type="arabicPeriod"/>
            </a:pPr>
            <a:r>
              <a:rPr lang="en-US" dirty="0"/>
              <a:t>Displays results via a Streamlit dashboard.</a:t>
            </a:r>
          </a:p>
        </p:txBody>
      </p:sp>
    </p:spTree>
    <p:extLst>
      <p:ext uri="{BB962C8B-B14F-4D97-AF65-F5344CB8AC3E}">
        <p14:creationId xmlns:p14="http://schemas.microsoft.com/office/powerpoint/2010/main" val="2123409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B13A6-3D3A-5114-496F-16B13CB21F93}"/>
              </a:ext>
            </a:extLst>
          </p:cNvPr>
          <p:cNvSpPr>
            <a:spLocks noGrp="1"/>
          </p:cNvSpPr>
          <p:nvPr>
            <p:ph type="title"/>
          </p:nvPr>
        </p:nvSpPr>
        <p:spPr/>
        <p:txBody>
          <a:bodyPr/>
          <a:lstStyle/>
          <a:p>
            <a:r>
              <a:rPr lang="en-US" b="1" dirty="0"/>
              <a:t>System Architecture</a:t>
            </a:r>
          </a:p>
        </p:txBody>
      </p:sp>
      <p:sp>
        <p:nvSpPr>
          <p:cNvPr id="3" name="Content Placeholder 2">
            <a:extLst>
              <a:ext uri="{FF2B5EF4-FFF2-40B4-BE49-F238E27FC236}">
                <a16:creationId xmlns:a16="http://schemas.microsoft.com/office/drawing/2014/main" id="{39CBFAA2-7C7C-0F25-8A13-EB7212BDE28F}"/>
              </a:ext>
            </a:extLst>
          </p:cNvPr>
          <p:cNvSpPr>
            <a:spLocks noGrp="1"/>
          </p:cNvSpPr>
          <p:nvPr>
            <p:ph idx="1"/>
          </p:nvPr>
        </p:nvSpPr>
        <p:spPr>
          <a:xfrm>
            <a:off x="613347" y="2422258"/>
            <a:ext cx="5482653" cy="4351338"/>
          </a:xfrm>
        </p:spPr>
        <p:txBody>
          <a:bodyPr>
            <a:normAutofit fontScale="92500" lnSpcReduction="10000"/>
          </a:bodyPr>
          <a:lstStyle/>
          <a:p>
            <a:pPr marL="514350" indent="-514350">
              <a:buFont typeface="+mj-lt"/>
              <a:buAutoNum type="arabicPeriod"/>
            </a:pPr>
            <a:r>
              <a:rPr lang="en-US" b="1" dirty="0"/>
              <a:t>Agent Responsibilities</a:t>
            </a:r>
          </a:p>
          <a:p>
            <a:r>
              <a:rPr lang="en-US" b="1" dirty="0"/>
              <a:t>Input Agent: </a:t>
            </a:r>
            <a:r>
              <a:rPr lang="en-US" dirty="0"/>
              <a:t>Reads excel file and reads the keyword and url.</a:t>
            </a:r>
            <a:endParaRPr lang="en-US" b="1" dirty="0"/>
          </a:p>
          <a:p>
            <a:r>
              <a:rPr lang="en-US" b="1" dirty="0"/>
              <a:t>SerpAPI Agent : </a:t>
            </a:r>
            <a:r>
              <a:rPr lang="en-US" dirty="0"/>
              <a:t>API for searching the target url in Google,</a:t>
            </a:r>
            <a:endParaRPr lang="en-US" b="1" dirty="0"/>
          </a:p>
          <a:p>
            <a:r>
              <a:rPr lang="en-US" b="1" dirty="0"/>
              <a:t>Organic Rank Agent: </a:t>
            </a:r>
            <a:r>
              <a:rPr lang="en-US" dirty="0"/>
              <a:t>Analyze the rank of link in google links.</a:t>
            </a:r>
            <a:endParaRPr lang="en-US" b="1" dirty="0"/>
          </a:p>
          <a:p>
            <a:r>
              <a:rPr lang="en-US" b="1" dirty="0"/>
              <a:t>Place Rank Agent: </a:t>
            </a:r>
            <a:r>
              <a:rPr lang="en-US" dirty="0"/>
              <a:t>Attempt to analyze the rank in Google Places.</a:t>
            </a:r>
          </a:p>
          <a:p>
            <a:r>
              <a:rPr lang="en-US" b="1" dirty="0"/>
              <a:t>Report Generator: </a:t>
            </a:r>
            <a:r>
              <a:rPr lang="en-US" dirty="0"/>
              <a:t>Store the data excel file </a:t>
            </a:r>
          </a:p>
        </p:txBody>
      </p:sp>
      <p:sp>
        <p:nvSpPr>
          <p:cNvPr id="6" name="TextBox 5">
            <a:extLst>
              <a:ext uri="{FF2B5EF4-FFF2-40B4-BE49-F238E27FC236}">
                <a16:creationId xmlns:a16="http://schemas.microsoft.com/office/drawing/2014/main" id="{A90DB82B-7F4E-1274-C534-C3DC53DCB850}"/>
              </a:ext>
            </a:extLst>
          </p:cNvPr>
          <p:cNvSpPr txBox="1"/>
          <p:nvPr/>
        </p:nvSpPr>
        <p:spPr>
          <a:xfrm>
            <a:off x="613347" y="1367522"/>
            <a:ext cx="990601" cy="89255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600" dirty="0"/>
              <a:t>Input</a:t>
            </a:r>
          </a:p>
          <a:p>
            <a:r>
              <a:rPr lang="en-US" sz="2600" dirty="0"/>
              <a:t>Agent</a:t>
            </a:r>
          </a:p>
        </p:txBody>
      </p:sp>
      <p:sp>
        <p:nvSpPr>
          <p:cNvPr id="7" name="TextBox 6">
            <a:extLst>
              <a:ext uri="{FF2B5EF4-FFF2-40B4-BE49-F238E27FC236}">
                <a16:creationId xmlns:a16="http://schemas.microsoft.com/office/drawing/2014/main" id="{5AD05D18-8E08-2F93-9735-BB5D195F5E50}"/>
              </a:ext>
            </a:extLst>
          </p:cNvPr>
          <p:cNvSpPr txBox="1"/>
          <p:nvPr/>
        </p:nvSpPr>
        <p:spPr>
          <a:xfrm>
            <a:off x="2744448" y="1367522"/>
            <a:ext cx="1332877" cy="89255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600" dirty="0"/>
              <a:t>SerpAPI</a:t>
            </a:r>
          </a:p>
          <a:p>
            <a:r>
              <a:rPr lang="en-US" sz="2600" dirty="0"/>
              <a:t>Agent</a:t>
            </a:r>
          </a:p>
        </p:txBody>
      </p:sp>
      <p:sp>
        <p:nvSpPr>
          <p:cNvPr id="8" name="TextBox 7">
            <a:extLst>
              <a:ext uri="{FF2B5EF4-FFF2-40B4-BE49-F238E27FC236}">
                <a16:creationId xmlns:a16="http://schemas.microsoft.com/office/drawing/2014/main" id="{AEFE3ABD-31FE-49AA-BE53-0E9F3D2E85AD}"/>
              </a:ext>
            </a:extLst>
          </p:cNvPr>
          <p:cNvSpPr txBox="1"/>
          <p:nvPr/>
        </p:nvSpPr>
        <p:spPr>
          <a:xfrm>
            <a:off x="5217825" y="1367522"/>
            <a:ext cx="1902503" cy="89255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600" dirty="0"/>
              <a:t>Organic and</a:t>
            </a:r>
          </a:p>
          <a:p>
            <a:r>
              <a:rPr lang="en-US" sz="2600" dirty="0"/>
              <a:t>Places Agent</a:t>
            </a:r>
          </a:p>
        </p:txBody>
      </p:sp>
      <p:sp>
        <p:nvSpPr>
          <p:cNvPr id="10" name="TextBox 9">
            <a:extLst>
              <a:ext uri="{FF2B5EF4-FFF2-40B4-BE49-F238E27FC236}">
                <a16:creationId xmlns:a16="http://schemas.microsoft.com/office/drawing/2014/main" id="{5A4AA939-A374-715C-DC26-F5DDFFA2AA84}"/>
              </a:ext>
            </a:extLst>
          </p:cNvPr>
          <p:cNvSpPr txBox="1"/>
          <p:nvPr/>
        </p:nvSpPr>
        <p:spPr>
          <a:xfrm>
            <a:off x="8260828" y="1291272"/>
            <a:ext cx="1332877" cy="89255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600" dirty="0"/>
              <a:t>Output</a:t>
            </a:r>
          </a:p>
          <a:p>
            <a:r>
              <a:rPr lang="en-US" sz="2600" dirty="0"/>
              <a:t>Agent</a:t>
            </a:r>
          </a:p>
        </p:txBody>
      </p:sp>
      <p:sp>
        <p:nvSpPr>
          <p:cNvPr id="11" name="Arrow: Right 10">
            <a:extLst>
              <a:ext uri="{FF2B5EF4-FFF2-40B4-BE49-F238E27FC236}">
                <a16:creationId xmlns:a16="http://schemas.microsoft.com/office/drawing/2014/main" id="{6E37285B-FE1D-1A38-595E-CF46528F35AB}"/>
              </a:ext>
            </a:extLst>
          </p:cNvPr>
          <p:cNvSpPr/>
          <p:nvPr/>
        </p:nvSpPr>
        <p:spPr>
          <a:xfrm>
            <a:off x="1926860" y="1627407"/>
            <a:ext cx="494675" cy="3479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9460D0E8-5E5A-3D27-C845-4C8E8AC82894}"/>
              </a:ext>
            </a:extLst>
          </p:cNvPr>
          <p:cNvSpPr/>
          <p:nvPr/>
        </p:nvSpPr>
        <p:spPr>
          <a:xfrm>
            <a:off x="4400237" y="1627407"/>
            <a:ext cx="494675" cy="3479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D182EF8B-E24B-E61D-2CE9-79AFD34AFA42}"/>
              </a:ext>
            </a:extLst>
          </p:cNvPr>
          <p:cNvSpPr txBox="1">
            <a:spLocks/>
          </p:cNvSpPr>
          <p:nvPr/>
        </p:nvSpPr>
        <p:spPr>
          <a:xfrm>
            <a:off x="6340839" y="2422258"/>
            <a:ext cx="548265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AutoNum type="arabicPeriod" startAt="2"/>
            </a:pPr>
            <a:r>
              <a:rPr lang="en-US" b="1" dirty="0"/>
              <a:t>Technology Used</a:t>
            </a:r>
          </a:p>
          <a:p>
            <a:r>
              <a:rPr lang="en-US" dirty="0"/>
              <a:t>Python</a:t>
            </a:r>
          </a:p>
          <a:p>
            <a:r>
              <a:rPr lang="en-US" dirty="0"/>
              <a:t>SerpAPI (Google Search API)</a:t>
            </a:r>
          </a:p>
          <a:p>
            <a:r>
              <a:rPr lang="en-US" dirty="0"/>
              <a:t>Pandas &amp; OpenPyXL</a:t>
            </a:r>
          </a:p>
          <a:p>
            <a:r>
              <a:rPr lang="en-US" dirty="0"/>
              <a:t>LangGraph</a:t>
            </a:r>
          </a:p>
          <a:p>
            <a:r>
              <a:rPr lang="en-US" dirty="0"/>
              <a:t>Streamlit</a:t>
            </a:r>
          </a:p>
        </p:txBody>
      </p:sp>
      <p:sp>
        <p:nvSpPr>
          <p:cNvPr id="5" name="Arrow: Right 4">
            <a:extLst>
              <a:ext uri="{FF2B5EF4-FFF2-40B4-BE49-F238E27FC236}">
                <a16:creationId xmlns:a16="http://schemas.microsoft.com/office/drawing/2014/main" id="{62449A2E-9AF3-AEE9-9537-4B1D90B7C3DA}"/>
              </a:ext>
            </a:extLst>
          </p:cNvPr>
          <p:cNvSpPr/>
          <p:nvPr/>
        </p:nvSpPr>
        <p:spPr>
          <a:xfrm>
            <a:off x="7413881" y="1597415"/>
            <a:ext cx="494675" cy="34797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5104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B5325-AA1B-594F-9DC9-AE43A3952009}"/>
              </a:ext>
            </a:extLst>
          </p:cNvPr>
          <p:cNvSpPr>
            <a:spLocks noGrp="1"/>
          </p:cNvSpPr>
          <p:nvPr>
            <p:ph type="title"/>
          </p:nvPr>
        </p:nvSpPr>
        <p:spPr/>
        <p:txBody>
          <a:bodyPr/>
          <a:lstStyle/>
          <a:p>
            <a:r>
              <a:rPr lang="en-US" b="1" dirty="0"/>
              <a:t>Input and Output </a:t>
            </a:r>
          </a:p>
        </p:txBody>
      </p:sp>
      <p:sp>
        <p:nvSpPr>
          <p:cNvPr id="3" name="Content Placeholder 2">
            <a:extLst>
              <a:ext uri="{FF2B5EF4-FFF2-40B4-BE49-F238E27FC236}">
                <a16:creationId xmlns:a16="http://schemas.microsoft.com/office/drawing/2014/main" id="{63CF63B0-D01E-096B-7DB6-A4200036B7AD}"/>
              </a:ext>
            </a:extLst>
          </p:cNvPr>
          <p:cNvSpPr>
            <a:spLocks noGrp="1"/>
          </p:cNvSpPr>
          <p:nvPr>
            <p:ph idx="1"/>
          </p:nvPr>
        </p:nvSpPr>
        <p:spPr/>
        <p:txBody>
          <a:bodyPr numCol="2"/>
          <a:lstStyle/>
          <a:p>
            <a:pPr marL="0" indent="0">
              <a:buNone/>
            </a:pPr>
            <a:r>
              <a:rPr lang="en-US" b="1" dirty="0"/>
              <a:t>Input</a:t>
            </a:r>
          </a:p>
          <a:p>
            <a:r>
              <a:rPr lang="en-US" dirty="0"/>
              <a:t>Excel file contains:</a:t>
            </a:r>
          </a:p>
          <a:p>
            <a:pPr marL="514350" indent="-514350">
              <a:buAutoNum type="arabicPeriod"/>
            </a:pPr>
            <a:r>
              <a:rPr lang="en-US" dirty="0"/>
              <a:t>The Keywords</a:t>
            </a:r>
          </a:p>
          <a:p>
            <a:pPr marL="514350" indent="-514350">
              <a:buAutoNum type="arabicPeriod"/>
            </a:pPr>
            <a:r>
              <a:rPr lang="en-US" dirty="0"/>
              <a:t>Target URL</a:t>
            </a:r>
          </a:p>
          <a:p>
            <a:pPr marL="514350" indent="-514350">
              <a:buFont typeface="+mj-lt"/>
              <a:buAutoNum type="arabicPeriod"/>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b="1" dirty="0"/>
              <a:t>Output</a:t>
            </a:r>
          </a:p>
          <a:p>
            <a:r>
              <a:rPr lang="en-US" dirty="0"/>
              <a:t>Excel Report</a:t>
            </a:r>
          </a:p>
          <a:p>
            <a:pPr marL="514350" indent="-514350">
              <a:buFont typeface="+mj-lt"/>
              <a:buAutoNum type="arabicPeriod"/>
            </a:pPr>
            <a:r>
              <a:rPr lang="en-US" dirty="0"/>
              <a:t>Keywords</a:t>
            </a:r>
          </a:p>
          <a:p>
            <a:pPr marL="514350" indent="-514350">
              <a:buFont typeface="+mj-lt"/>
              <a:buAutoNum type="arabicPeriod"/>
            </a:pPr>
            <a:r>
              <a:rPr lang="en-US" dirty="0"/>
              <a:t>Google Places</a:t>
            </a:r>
          </a:p>
          <a:p>
            <a:pPr marL="514350" indent="-514350">
              <a:buFont typeface="+mj-lt"/>
              <a:buAutoNum type="arabicPeriod"/>
            </a:pPr>
            <a:r>
              <a:rPr lang="en-US" dirty="0"/>
              <a:t>Google Links</a:t>
            </a:r>
          </a:p>
          <a:p>
            <a:pPr marL="514350" indent="-514350">
              <a:buFont typeface="+mj-lt"/>
              <a:buAutoNum type="arabicPeriod"/>
            </a:pPr>
            <a:r>
              <a:rPr lang="en-US" dirty="0"/>
              <a:t>Page Number</a:t>
            </a:r>
          </a:p>
          <a:p>
            <a:r>
              <a:rPr lang="en-US" dirty="0"/>
              <a:t>Interactive Dashboards</a:t>
            </a:r>
          </a:p>
        </p:txBody>
      </p:sp>
    </p:spTree>
    <p:extLst>
      <p:ext uri="{BB962C8B-B14F-4D97-AF65-F5344CB8AC3E}">
        <p14:creationId xmlns:p14="http://schemas.microsoft.com/office/powerpoint/2010/main" val="6984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C8730-2677-DF1D-A252-5BAC8237060F}"/>
              </a:ext>
            </a:extLst>
          </p:cNvPr>
          <p:cNvSpPr>
            <a:spLocks noGrp="1"/>
          </p:cNvSpPr>
          <p:nvPr>
            <p:ph type="title"/>
          </p:nvPr>
        </p:nvSpPr>
        <p:spPr/>
        <p:txBody>
          <a:bodyPr/>
          <a:lstStyle/>
          <a:p>
            <a:r>
              <a:rPr lang="en-US" b="1" dirty="0"/>
              <a:t>Output Table</a:t>
            </a:r>
          </a:p>
        </p:txBody>
      </p:sp>
      <p:graphicFrame>
        <p:nvGraphicFramePr>
          <p:cNvPr id="8" name="Table 7">
            <a:extLst>
              <a:ext uri="{FF2B5EF4-FFF2-40B4-BE49-F238E27FC236}">
                <a16:creationId xmlns:a16="http://schemas.microsoft.com/office/drawing/2014/main" id="{4382F77A-89BC-0785-9AE2-18031F9CF6C7}"/>
              </a:ext>
            </a:extLst>
          </p:cNvPr>
          <p:cNvGraphicFramePr>
            <a:graphicFrameLocks noGrp="1"/>
          </p:cNvGraphicFramePr>
          <p:nvPr>
            <p:extLst>
              <p:ext uri="{D42A27DB-BD31-4B8C-83A1-F6EECF244321}">
                <p14:modId xmlns:p14="http://schemas.microsoft.com/office/powerpoint/2010/main" val="767559321"/>
              </p:ext>
            </p:extLst>
          </p:nvPr>
        </p:nvGraphicFramePr>
        <p:xfrm>
          <a:off x="1000918" y="1495424"/>
          <a:ext cx="10100470" cy="4683924"/>
        </p:xfrm>
        <a:graphic>
          <a:graphicData uri="http://schemas.openxmlformats.org/drawingml/2006/table">
            <a:tbl>
              <a:tblPr>
                <a:tableStyleId>{5C22544A-7EE6-4342-B048-85BDC9FD1C3A}</a:tableStyleId>
              </a:tblPr>
              <a:tblGrid>
                <a:gridCol w="2826550">
                  <a:extLst>
                    <a:ext uri="{9D8B030D-6E8A-4147-A177-3AD203B41FA5}">
                      <a16:colId xmlns:a16="http://schemas.microsoft.com/office/drawing/2014/main" val="819640680"/>
                    </a:ext>
                  </a:extLst>
                </a:gridCol>
                <a:gridCol w="3518363">
                  <a:extLst>
                    <a:ext uri="{9D8B030D-6E8A-4147-A177-3AD203B41FA5}">
                      <a16:colId xmlns:a16="http://schemas.microsoft.com/office/drawing/2014/main" val="3068228984"/>
                    </a:ext>
                  </a:extLst>
                </a:gridCol>
                <a:gridCol w="1304562">
                  <a:extLst>
                    <a:ext uri="{9D8B030D-6E8A-4147-A177-3AD203B41FA5}">
                      <a16:colId xmlns:a16="http://schemas.microsoft.com/office/drawing/2014/main" val="666880446"/>
                    </a:ext>
                  </a:extLst>
                </a:gridCol>
                <a:gridCol w="1146433">
                  <a:extLst>
                    <a:ext uri="{9D8B030D-6E8A-4147-A177-3AD203B41FA5}">
                      <a16:colId xmlns:a16="http://schemas.microsoft.com/office/drawing/2014/main" val="1792245666"/>
                    </a:ext>
                  </a:extLst>
                </a:gridCol>
                <a:gridCol w="1304562">
                  <a:extLst>
                    <a:ext uri="{9D8B030D-6E8A-4147-A177-3AD203B41FA5}">
                      <a16:colId xmlns:a16="http://schemas.microsoft.com/office/drawing/2014/main" val="25344568"/>
                    </a:ext>
                  </a:extLst>
                </a:gridCol>
              </a:tblGrid>
              <a:tr h="223044">
                <a:tc>
                  <a:txBody>
                    <a:bodyPr/>
                    <a:lstStyle/>
                    <a:p>
                      <a:pPr algn="ctr" fontAlgn="t">
                        <a:buNone/>
                      </a:pPr>
                      <a:r>
                        <a:rPr lang="en-US" sz="1100" u="none" strike="noStrike">
                          <a:effectLst/>
                        </a:rPr>
                        <a:t>keyword</a:t>
                      </a:r>
                      <a:endParaRPr lang="en-US" sz="1100" b="1" i="0" u="none" strike="noStrike">
                        <a:solidFill>
                          <a:srgbClr val="000000"/>
                        </a:solidFill>
                        <a:effectLst/>
                        <a:latin typeface="Calibri" panose="020F0502020204030204" pitchFamily="34" charset="0"/>
                      </a:endParaRPr>
                    </a:p>
                  </a:txBody>
                  <a:tcPr marL="6350" marR="6350" marT="6350" marB="0"/>
                </a:tc>
                <a:tc>
                  <a:txBody>
                    <a:bodyPr/>
                    <a:lstStyle/>
                    <a:p>
                      <a:pPr algn="ctr" fontAlgn="t">
                        <a:buNone/>
                      </a:pPr>
                      <a:r>
                        <a:rPr lang="en-US" sz="1100" u="none" strike="noStrike">
                          <a:effectLst/>
                        </a:rPr>
                        <a:t>url</a:t>
                      </a:r>
                      <a:endParaRPr lang="en-US" sz="1100" b="1" i="0" u="none" strike="noStrike">
                        <a:solidFill>
                          <a:srgbClr val="000000"/>
                        </a:solidFill>
                        <a:effectLst/>
                        <a:latin typeface="Calibri" panose="020F0502020204030204" pitchFamily="34" charset="0"/>
                      </a:endParaRPr>
                    </a:p>
                  </a:txBody>
                  <a:tcPr marL="6350" marR="6350" marT="6350" marB="0"/>
                </a:tc>
                <a:tc>
                  <a:txBody>
                    <a:bodyPr/>
                    <a:lstStyle/>
                    <a:p>
                      <a:pPr algn="ctr" fontAlgn="t">
                        <a:buNone/>
                      </a:pPr>
                      <a:r>
                        <a:rPr lang="en-US" sz="1100" u="none" strike="noStrike">
                          <a:effectLst/>
                        </a:rPr>
                        <a:t>google places</a:t>
                      </a:r>
                      <a:endParaRPr lang="en-US" sz="1100" b="1" i="0" u="none" strike="noStrike">
                        <a:solidFill>
                          <a:srgbClr val="000000"/>
                        </a:solidFill>
                        <a:effectLst/>
                        <a:latin typeface="Calibri" panose="020F0502020204030204" pitchFamily="34" charset="0"/>
                      </a:endParaRPr>
                    </a:p>
                  </a:txBody>
                  <a:tcPr marL="6350" marR="6350" marT="6350" marB="0"/>
                </a:tc>
                <a:tc>
                  <a:txBody>
                    <a:bodyPr/>
                    <a:lstStyle/>
                    <a:p>
                      <a:pPr algn="ctr" fontAlgn="t">
                        <a:buNone/>
                      </a:pPr>
                      <a:r>
                        <a:rPr lang="en-US" sz="1100" u="none" strike="noStrike">
                          <a:effectLst/>
                        </a:rPr>
                        <a:t>google links</a:t>
                      </a:r>
                      <a:endParaRPr lang="en-US" sz="1100" b="1" i="0" u="none" strike="noStrike">
                        <a:solidFill>
                          <a:srgbClr val="000000"/>
                        </a:solidFill>
                        <a:effectLst/>
                        <a:latin typeface="Calibri" panose="020F0502020204030204" pitchFamily="34" charset="0"/>
                      </a:endParaRPr>
                    </a:p>
                  </a:txBody>
                  <a:tcPr marL="6350" marR="6350" marT="6350" marB="0"/>
                </a:tc>
                <a:tc>
                  <a:txBody>
                    <a:bodyPr/>
                    <a:lstStyle/>
                    <a:p>
                      <a:pPr algn="ctr" fontAlgn="t">
                        <a:buNone/>
                      </a:pPr>
                      <a:r>
                        <a:rPr lang="en-US" sz="1100" u="none" strike="noStrike">
                          <a:effectLst/>
                        </a:rPr>
                        <a:t>page number</a:t>
                      </a:r>
                      <a:endParaRPr lang="en-US" sz="1100" b="1" i="0" u="none" strike="noStrike">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996297924"/>
                  </a:ext>
                </a:extLst>
              </a:tr>
              <a:tr h="223044">
                <a:tc>
                  <a:txBody>
                    <a:bodyPr/>
                    <a:lstStyle/>
                    <a:p>
                      <a:pPr algn="ctr" fontAlgn="b">
                        <a:buNone/>
                      </a:pPr>
                      <a:r>
                        <a:rPr lang="en-US" sz="1100" u="none" strike="noStrike">
                          <a:effectLst/>
                        </a:rPr>
                        <a:t>home delivery food near me</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dirty="0">
                          <a:effectLst/>
                        </a:rPr>
                        <a:t>Not Found</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N/A</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485384892"/>
                  </a:ext>
                </a:extLst>
              </a:tr>
              <a:tr h="223044">
                <a:tc>
                  <a:txBody>
                    <a:bodyPr/>
                    <a:lstStyle/>
                    <a:p>
                      <a:pPr algn="ctr" fontAlgn="b">
                        <a:buNone/>
                      </a:pPr>
                      <a:r>
                        <a:rPr lang="en-US" sz="1100" u="none" strike="noStrike">
                          <a:effectLst/>
                        </a:rPr>
                        <a:t>tiffin service provider</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Page 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693065790"/>
                  </a:ext>
                </a:extLst>
              </a:tr>
              <a:tr h="223044">
                <a:tc>
                  <a:txBody>
                    <a:bodyPr/>
                    <a:lstStyle/>
                    <a:p>
                      <a:pPr algn="ctr" fontAlgn="b">
                        <a:buNone/>
                      </a:pPr>
                      <a:r>
                        <a:rPr lang="en-US" sz="1100" u="none" strike="noStrike">
                          <a:effectLst/>
                        </a:rPr>
                        <a:t>tiffin service in noida</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Page 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164536697"/>
                  </a:ext>
                </a:extLst>
              </a:tr>
              <a:tr h="223044">
                <a:tc>
                  <a:txBody>
                    <a:bodyPr/>
                    <a:lstStyle/>
                    <a:p>
                      <a:pPr algn="ctr" fontAlgn="b">
                        <a:buNone/>
                      </a:pPr>
                      <a:r>
                        <a:rPr lang="en-US" sz="1100" u="none" strike="noStrike">
                          <a:effectLst/>
                        </a:rPr>
                        <a:t>tiffin service online</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Page 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681882515"/>
                  </a:ext>
                </a:extLst>
              </a:tr>
              <a:tr h="223044">
                <a:tc>
                  <a:txBody>
                    <a:bodyPr/>
                    <a:lstStyle/>
                    <a:p>
                      <a:pPr algn="ctr" fontAlgn="b">
                        <a:buNone/>
                      </a:pPr>
                      <a:r>
                        <a:rPr lang="en-US" sz="1100" u="none" strike="noStrike">
                          <a:effectLst/>
                        </a:rPr>
                        <a:t>healthy food online</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19</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Page 2</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31514036"/>
                  </a:ext>
                </a:extLst>
              </a:tr>
              <a:tr h="223044">
                <a:tc>
                  <a:txBody>
                    <a:bodyPr/>
                    <a:lstStyle/>
                    <a:p>
                      <a:pPr algn="ctr" fontAlgn="b">
                        <a:buNone/>
                      </a:pPr>
                      <a:r>
                        <a:rPr lang="en-US" sz="1100" u="none" strike="noStrike">
                          <a:effectLst/>
                        </a:rPr>
                        <a:t>organic food near me</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N/A</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522369544"/>
                  </a:ext>
                </a:extLst>
              </a:tr>
              <a:tr h="223044">
                <a:tc>
                  <a:txBody>
                    <a:bodyPr/>
                    <a:lstStyle/>
                    <a:p>
                      <a:pPr algn="ctr" fontAlgn="b">
                        <a:buNone/>
                      </a:pPr>
                      <a:r>
                        <a:rPr lang="en-US" sz="1100" u="none" strike="noStrike">
                          <a:effectLst/>
                        </a:rPr>
                        <a:t>meal delivery service</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19</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Page 2</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951477529"/>
                  </a:ext>
                </a:extLst>
              </a:tr>
              <a:tr h="223044">
                <a:tc>
                  <a:txBody>
                    <a:bodyPr/>
                    <a:lstStyle/>
                    <a:p>
                      <a:pPr algn="ctr" fontAlgn="b">
                        <a:buNone/>
                      </a:pPr>
                      <a:r>
                        <a:rPr lang="en-US" sz="1100" u="none" strike="noStrike">
                          <a:effectLst/>
                        </a:rPr>
                        <a:t>food delivery in noida</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dirty="0">
                          <a:effectLst/>
                        </a:rPr>
                        <a:t>https://www.omorganickitchen.com/</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N/A</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398955327"/>
                  </a:ext>
                </a:extLst>
              </a:tr>
              <a:tr h="223044">
                <a:tc>
                  <a:txBody>
                    <a:bodyPr/>
                    <a:lstStyle/>
                    <a:p>
                      <a:pPr algn="ctr" fontAlgn="b">
                        <a:buNone/>
                      </a:pPr>
                      <a:r>
                        <a:rPr lang="en-US" sz="1100" u="none" strike="noStrike">
                          <a:effectLst/>
                        </a:rPr>
                        <a:t>tiffin delivery service</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14</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Page 2</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022771470"/>
                  </a:ext>
                </a:extLst>
              </a:tr>
              <a:tr h="223044">
                <a:tc>
                  <a:txBody>
                    <a:bodyPr/>
                    <a:lstStyle/>
                    <a:p>
                      <a:pPr algn="ctr" fontAlgn="b">
                        <a:buNone/>
                      </a:pPr>
                      <a:r>
                        <a:rPr lang="en-US" sz="1100" u="none" strike="noStrike">
                          <a:effectLst/>
                        </a:rPr>
                        <a:t>organic food delivery</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Page 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796454983"/>
                  </a:ext>
                </a:extLst>
              </a:tr>
              <a:tr h="223044">
                <a:tc>
                  <a:txBody>
                    <a:bodyPr/>
                    <a:lstStyle/>
                    <a:p>
                      <a:pPr algn="ctr" fontAlgn="b">
                        <a:buNone/>
                      </a:pPr>
                      <a:r>
                        <a:rPr lang="en-US" sz="1100" u="none" strike="noStrike">
                          <a:effectLst/>
                        </a:rPr>
                        <a:t>corporate tiffin services</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Page 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738227098"/>
                  </a:ext>
                </a:extLst>
              </a:tr>
              <a:tr h="223044">
                <a:tc>
                  <a:txBody>
                    <a:bodyPr/>
                    <a:lstStyle/>
                    <a:p>
                      <a:pPr algn="ctr" fontAlgn="b">
                        <a:buNone/>
                      </a:pPr>
                      <a:r>
                        <a:rPr lang="it-IT" sz="1100" u="none" strike="noStrike">
                          <a:effectLst/>
                        </a:rPr>
                        <a:t>online tiffin service in noida</a:t>
                      </a:r>
                      <a:endParaRPr lang="it-IT"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Page 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238139652"/>
                  </a:ext>
                </a:extLst>
              </a:tr>
              <a:tr h="223044">
                <a:tc>
                  <a:txBody>
                    <a:bodyPr/>
                    <a:lstStyle/>
                    <a:p>
                      <a:pPr algn="ctr" fontAlgn="b">
                        <a:buNone/>
                      </a:pPr>
                      <a:r>
                        <a:rPr lang="en-US" sz="1100" u="none" strike="noStrike">
                          <a:effectLst/>
                        </a:rPr>
                        <a:t>corporate lunch menu</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Page 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435769902"/>
                  </a:ext>
                </a:extLst>
              </a:tr>
              <a:tr h="223044">
                <a:tc>
                  <a:txBody>
                    <a:bodyPr/>
                    <a:lstStyle/>
                    <a:p>
                      <a:pPr algn="ctr" fontAlgn="b">
                        <a:buNone/>
                      </a:pPr>
                      <a:r>
                        <a:rPr lang="en-US" sz="1100" u="none" strike="noStrike">
                          <a:effectLst/>
                        </a:rPr>
                        <a:t>organic food menu</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29</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Page 3</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997734566"/>
                  </a:ext>
                </a:extLst>
              </a:tr>
              <a:tr h="223044">
                <a:tc>
                  <a:txBody>
                    <a:bodyPr/>
                    <a:lstStyle/>
                    <a:p>
                      <a:pPr algn="ctr" fontAlgn="b">
                        <a:buNone/>
                      </a:pPr>
                      <a:r>
                        <a:rPr lang="en-US" sz="1100" u="none" strike="noStrike">
                          <a:effectLst/>
                        </a:rPr>
                        <a:t>organic tiffin services</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6</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Page 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681538079"/>
                  </a:ext>
                </a:extLst>
              </a:tr>
              <a:tr h="223044">
                <a:tc>
                  <a:txBody>
                    <a:bodyPr/>
                    <a:lstStyle/>
                    <a:p>
                      <a:pPr algn="ctr" fontAlgn="b">
                        <a:buNone/>
                      </a:pPr>
                      <a:r>
                        <a:rPr lang="en-US" sz="1100" u="none" strike="noStrike">
                          <a:effectLst/>
                        </a:rPr>
                        <a:t>corporate food catering</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Page 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358944852"/>
                  </a:ext>
                </a:extLst>
              </a:tr>
              <a:tr h="223044">
                <a:tc>
                  <a:txBody>
                    <a:bodyPr/>
                    <a:lstStyle/>
                    <a:p>
                      <a:pPr algn="ctr" fontAlgn="b">
                        <a:buNone/>
                      </a:pPr>
                      <a:r>
                        <a:rPr lang="en-US" sz="1100" u="none" strike="noStrike">
                          <a:effectLst/>
                        </a:rPr>
                        <a:t>meals delivered to your home</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Page 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845028378"/>
                  </a:ext>
                </a:extLst>
              </a:tr>
              <a:tr h="223044">
                <a:tc>
                  <a:txBody>
                    <a:bodyPr/>
                    <a:lstStyle/>
                    <a:p>
                      <a:pPr algn="ctr" fontAlgn="b">
                        <a:buNone/>
                      </a:pPr>
                      <a:r>
                        <a:rPr lang="en-US" sz="1100" u="none" strike="noStrike">
                          <a:effectLst/>
                        </a:rPr>
                        <a:t>organic lunch near me</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N/A</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3026437"/>
                  </a:ext>
                </a:extLst>
              </a:tr>
              <a:tr h="223044">
                <a:tc>
                  <a:txBody>
                    <a:bodyPr/>
                    <a:lstStyle/>
                    <a:p>
                      <a:pPr algn="ctr" fontAlgn="b">
                        <a:buNone/>
                      </a:pPr>
                      <a:r>
                        <a:rPr lang="en-US" sz="1100" u="none" strike="noStrike">
                          <a:effectLst/>
                        </a:rPr>
                        <a:t>organic meal delivery</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Page 1</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812025894"/>
                  </a:ext>
                </a:extLst>
              </a:tr>
              <a:tr h="223044">
                <a:tc>
                  <a:txBody>
                    <a:bodyPr/>
                    <a:lstStyle/>
                    <a:p>
                      <a:pPr algn="ctr" fontAlgn="b">
                        <a:buNone/>
                      </a:pPr>
                      <a:r>
                        <a:rPr lang="en-US" sz="1100" u="none" strike="noStrike">
                          <a:effectLst/>
                        </a:rPr>
                        <a:t>organic meal subscription</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https://www.omorganickitchen.com/</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Not Found</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buNone/>
                      </a:pPr>
                      <a:r>
                        <a:rPr lang="en-US" sz="1100" u="none" strike="noStrike" dirty="0">
                          <a:effectLst/>
                        </a:rPr>
                        <a:t>Page 1</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965722306"/>
                  </a:ext>
                </a:extLst>
              </a:tr>
            </a:tbl>
          </a:graphicData>
        </a:graphic>
      </p:graphicFrame>
    </p:spTree>
    <p:extLst>
      <p:ext uri="{BB962C8B-B14F-4D97-AF65-F5344CB8AC3E}">
        <p14:creationId xmlns:p14="http://schemas.microsoft.com/office/powerpoint/2010/main" val="2286871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50FCD-B66A-77A6-95B5-C10D889BB8B8}"/>
              </a:ext>
            </a:extLst>
          </p:cNvPr>
          <p:cNvSpPr>
            <a:spLocks noGrp="1"/>
          </p:cNvSpPr>
          <p:nvPr>
            <p:ph type="title"/>
          </p:nvPr>
        </p:nvSpPr>
        <p:spPr/>
        <p:txBody>
          <a:bodyPr/>
          <a:lstStyle/>
          <a:p>
            <a:r>
              <a:rPr lang="en-US" b="1" dirty="0"/>
              <a:t>Challenges</a:t>
            </a:r>
          </a:p>
        </p:txBody>
      </p:sp>
      <p:sp>
        <p:nvSpPr>
          <p:cNvPr id="3" name="Content Placeholder 2">
            <a:extLst>
              <a:ext uri="{FF2B5EF4-FFF2-40B4-BE49-F238E27FC236}">
                <a16:creationId xmlns:a16="http://schemas.microsoft.com/office/drawing/2014/main" id="{091F9267-7B7D-5F57-6A78-CF2C28270A8B}"/>
              </a:ext>
            </a:extLst>
          </p:cNvPr>
          <p:cNvSpPr>
            <a:spLocks noGrp="1"/>
          </p:cNvSpPr>
          <p:nvPr>
            <p:ph idx="1"/>
          </p:nvPr>
        </p:nvSpPr>
        <p:spPr/>
        <p:txBody>
          <a:bodyPr>
            <a:normAutofit lnSpcReduction="10000"/>
          </a:bodyPr>
          <a:lstStyle/>
          <a:p>
            <a:r>
              <a:rPr lang="en-US" dirty="0"/>
              <a:t>Google Places ranking detection. It results varies by:</a:t>
            </a:r>
          </a:p>
          <a:p>
            <a:pPr marL="514350" indent="-514350">
              <a:buFont typeface="+mj-lt"/>
              <a:buAutoNum type="arabicPeriod"/>
            </a:pPr>
            <a:r>
              <a:rPr lang="en-US" dirty="0"/>
              <a:t>Location Precision</a:t>
            </a:r>
          </a:p>
          <a:p>
            <a:pPr marL="514350" indent="-514350">
              <a:buFont typeface="+mj-lt"/>
              <a:buAutoNum type="arabicPeriod"/>
            </a:pPr>
            <a:r>
              <a:rPr lang="en-US" dirty="0"/>
              <a:t>User proximity</a:t>
            </a:r>
          </a:p>
          <a:p>
            <a:pPr marL="514350" indent="-514350">
              <a:buFont typeface="+mj-lt"/>
              <a:buAutoNum type="arabicPeriod"/>
            </a:pPr>
            <a:r>
              <a:rPr lang="en-US" dirty="0"/>
              <a:t>Google Maps signals</a:t>
            </a:r>
          </a:p>
          <a:p>
            <a:r>
              <a:rPr lang="en-US" dirty="0"/>
              <a:t>API Limitations</a:t>
            </a:r>
          </a:p>
          <a:p>
            <a:pPr marL="514350" indent="-514350">
              <a:buFont typeface="+mj-lt"/>
              <a:buAutoNum type="arabicPeriod"/>
            </a:pPr>
            <a:r>
              <a:rPr lang="en-US" dirty="0"/>
              <a:t>SerpAPI gives structured data but may not always match UI results.</a:t>
            </a:r>
          </a:p>
          <a:p>
            <a:r>
              <a:rPr lang="en-US" dirty="0"/>
              <a:t>Other APIs explored</a:t>
            </a:r>
          </a:p>
          <a:p>
            <a:pPr marL="514350" indent="-514350">
              <a:buFont typeface="+mj-lt"/>
              <a:buAutoNum type="arabicPeriod"/>
            </a:pPr>
            <a:r>
              <a:rPr lang="en-US" dirty="0"/>
              <a:t>Bing API (limited access)</a:t>
            </a:r>
          </a:p>
          <a:p>
            <a:pPr marL="514350" indent="-514350">
              <a:buFont typeface="+mj-lt"/>
              <a:buAutoNum type="arabicPeriod"/>
            </a:pPr>
            <a:r>
              <a:rPr lang="en-US" dirty="0"/>
              <a:t>Playwright scraping (blocked by CAPTCHA, unsafe)</a:t>
            </a:r>
          </a:p>
        </p:txBody>
      </p:sp>
    </p:spTree>
    <p:extLst>
      <p:ext uri="{BB962C8B-B14F-4D97-AF65-F5344CB8AC3E}">
        <p14:creationId xmlns:p14="http://schemas.microsoft.com/office/powerpoint/2010/main" val="2005550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C2C41-B156-848A-6418-63EF183E99BA}"/>
              </a:ext>
            </a:extLst>
          </p:cNvPr>
          <p:cNvSpPr>
            <a:spLocks noGrp="1"/>
          </p:cNvSpPr>
          <p:nvPr>
            <p:ph type="title"/>
          </p:nvPr>
        </p:nvSpPr>
        <p:spPr/>
        <p:txBody>
          <a:bodyPr/>
          <a:lstStyle/>
          <a:p>
            <a:r>
              <a:rPr lang="en-US" b="1" dirty="0"/>
              <a:t>Limitation</a:t>
            </a:r>
          </a:p>
        </p:txBody>
      </p:sp>
      <p:sp>
        <p:nvSpPr>
          <p:cNvPr id="3" name="Content Placeholder 2">
            <a:extLst>
              <a:ext uri="{FF2B5EF4-FFF2-40B4-BE49-F238E27FC236}">
                <a16:creationId xmlns:a16="http://schemas.microsoft.com/office/drawing/2014/main" id="{2F166AF5-C318-BECA-175C-BD1E8DB6192D}"/>
              </a:ext>
            </a:extLst>
          </p:cNvPr>
          <p:cNvSpPr>
            <a:spLocks noGrp="1"/>
          </p:cNvSpPr>
          <p:nvPr>
            <p:ph idx="1"/>
          </p:nvPr>
        </p:nvSpPr>
        <p:spPr/>
        <p:txBody>
          <a:bodyPr/>
          <a:lstStyle/>
          <a:p>
            <a:r>
              <a:rPr lang="en-US" dirty="0"/>
              <a:t>Google search results vary due to personalization, location, and real-time signals that APIs cannot fully replicate.</a:t>
            </a:r>
          </a:p>
          <a:p>
            <a:r>
              <a:rPr lang="en-US" dirty="0"/>
              <a:t>Google Places rankings are highly dynamic and depend on proximity, reviews, and user behavior</a:t>
            </a:r>
          </a:p>
          <a:p>
            <a:r>
              <a:rPr lang="en-US" dirty="0"/>
              <a:t>API-based results may differ from live Google UI due to ads, maps, and featured elements.</a:t>
            </a:r>
          </a:p>
          <a:p>
            <a:r>
              <a:rPr lang="en-US" dirty="0"/>
              <a:t>Free API usage limits restrict the number of keywords and pages analyzed per run.</a:t>
            </a:r>
          </a:p>
        </p:txBody>
      </p:sp>
    </p:spTree>
    <p:extLst>
      <p:ext uri="{BB962C8B-B14F-4D97-AF65-F5344CB8AC3E}">
        <p14:creationId xmlns:p14="http://schemas.microsoft.com/office/powerpoint/2010/main" val="3610115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45353-5807-662F-C6DF-458CDFB13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290151-C940-2104-AF1E-9F4FDB92B784}"/>
              </a:ext>
            </a:extLst>
          </p:cNvPr>
          <p:cNvSpPr>
            <a:spLocks noGrp="1"/>
          </p:cNvSpPr>
          <p:nvPr>
            <p:ph type="title"/>
          </p:nvPr>
        </p:nvSpPr>
        <p:spPr/>
        <p:txBody>
          <a:bodyPr/>
          <a:lstStyle/>
          <a:p>
            <a:r>
              <a:rPr lang="en-US" b="1" dirty="0"/>
              <a:t>Future Enhancement</a:t>
            </a:r>
          </a:p>
        </p:txBody>
      </p:sp>
      <p:sp>
        <p:nvSpPr>
          <p:cNvPr id="3" name="Content Placeholder 2">
            <a:extLst>
              <a:ext uri="{FF2B5EF4-FFF2-40B4-BE49-F238E27FC236}">
                <a16:creationId xmlns:a16="http://schemas.microsoft.com/office/drawing/2014/main" id="{447EFEB4-FA14-F9A8-759E-6A891B368701}"/>
              </a:ext>
            </a:extLst>
          </p:cNvPr>
          <p:cNvSpPr>
            <a:spLocks noGrp="1"/>
          </p:cNvSpPr>
          <p:nvPr>
            <p:ph idx="1"/>
          </p:nvPr>
        </p:nvSpPr>
        <p:spPr/>
        <p:txBody>
          <a:bodyPr/>
          <a:lstStyle/>
          <a:p>
            <a:r>
              <a:rPr lang="en-US" dirty="0"/>
              <a:t>Historical rank tracking</a:t>
            </a:r>
          </a:p>
          <a:p>
            <a:r>
              <a:rPr lang="en-US" dirty="0"/>
              <a:t>Daily/weekly automation</a:t>
            </a:r>
          </a:p>
          <a:p>
            <a:r>
              <a:rPr lang="en-US" dirty="0"/>
              <a:t>Location-based comparison</a:t>
            </a:r>
          </a:p>
        </p:txBody>
      </p:sp>
    </p:spTree>
    <p:extLst>
      <p:ext uri="{BB962C8B-B14F-4D97-AF65-F5344CB8AC3E}">
        <p14:creationId xmlns:p14="http://schemas.microsoft.com/office/powerpoint/2010/main" val="995239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E0111-657A-68A4-D33A-18CCA723FA62}"/>
              </a:ext>
            </a:extLst>
          </p:cNvPr>
          <p:cNvSpPr txBox="1">
            <a:spLocks/>
          </p:cNvSpPr>
          <p:nvPr/>
        </p:nvSpPr>
        <p:spPr>
          <a:xfrm>
            <a:off x="838200" y="2766218"/>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THANK YOU</a:t>
            </a:r>
          </a:p>
        </p:txBody>
      </p:sp>
    </p:spTree>
    <p:extLst>
      <p:ext uri="{BB962C8B-B14F-4D97-AF65-F5344CB8AC3E}">
        <p14:creationId xmlns:p14="http://schemas.microsoft.com/office/powerpoint/2010/main" val="2834879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745</Words>
  <Application>Microsoft Office PowerPoint</Application>
  <PresentationFormat>Widescreen</PresentationFormat>
  <Paragraphs>176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Keyword Ranking Analysis</vt:lpstr>
      <vt:lpstr>Problem Statement</vt:lpstr>
      <vt:lpstr>Proposed Solutions</vt:lpstr>
      <vt:lpstr>System Architecture</vt:lpstr>
      <vt:lpstr>Input and Output </vt:lpstr>
      <vt:lpstr>Output Table</vt:lpstr>
      <vt:lpstr>Challenges</vt:lpstr>
      <vt:lpstr>Limitation</vt:lpstr>
      <vt:lpstr>Future Enhancement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Kumar</dc:creator>
  <cp:lastModifiedBy>Abhishek Kumar</cp:lastModifiedBy>
  <cp:revision>2</cp:revision>
  <dcterms:created xsi:type="dcterms:W3CDTF">2026-01-03T23:55:29Z</dcterms:created>
  <dcterms:modified xsi:type="dcterms:W3CDTF">2026-01-04T16:22:32Z</dcterms:modified>
</cp:coreProperties>
</file>